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55ed52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55ed52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55ed52c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55ed52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855ed52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855ed52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5ed52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855ed52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55ed52c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855ed52c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855ed52c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855ed52c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855ed52ce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855ed52c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855ed52ce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855ed52ce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 Artificiais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</a:t>
            </a:r>
            <a:r>
              <a:rPr lang="pt-BR"/>
              <a:t>ão Computacional Moderna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Perceptron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16063" l="0" r="0" t="10217"/>
          <a:stretch/>
        </p:blipFill>
        <p:spPr>
          <a:xfrm>
            <a:off x="1083962" y="1017725"/>
            <a:ext cx="6976076" cy="36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</a:t>
            </a:r>
            <a:r>
              <a:rPr lang="pt-BR"/>
              <a:t>ções de Ativação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587" y="1573449"/>
            <a:ext cx="3078500" cy="15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390488" y="1095450"/>
            <a:ext cx="8367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Linear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187" y="1573450"/>
            <a:ext cx="2959214" cy="15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823155" y="1180450"/>
            <a:ext cx="1143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Sigmoid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585675"/>
            <a:ext cx="2786749" cy="1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286713" y="3192675"/>
            <a:ext cx="8367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Tanh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3600" y="3616050"/>
            <a:ext cx="2692899" cy="14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251688" y="3223050"/>
            <a:ext cx="8367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ReLU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41650" y="3616050"/>
            <a:ext cx="2590650" cy="136007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6934880" y="3223050"/>
            <a:ext cx="1204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Softmax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Rede Aprende?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256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1054950" y="16369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14842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19135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2342850" y="16369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27721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2014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256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054950" y="20443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4842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9135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2342850" y="20443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27721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2014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256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1054950" y="24517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14842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9135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342850" y="24517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27721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32014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625650" y="28591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0549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14842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19135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3428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2772150" y="28591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201450" y="28591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256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10549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14842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19135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2342850" y="32665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7721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32014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256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10549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4842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19135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2342850" y="36739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27721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32014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256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10549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4842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19135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2342850" y="40813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7721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32014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650" y="1636900"/>
            <a:ext cx="3001166" cy="29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3870350" y="2735450"/>
            <a:ext cx="873600" cy="45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Rede aprende?</a:t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 b="3491" l="2731" r="3434" t="2409"/>
          <a:stretch/>
        </p:blipFill>
        <p:spPr>
          <a:xfrm>
            <a:off x="2107063" y="1338625"/>
            <a:ext cx="4929876" cy="326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</a:t>
            </a:r>
            <a:r>
              <a:rPr lang="pt-BR"/>
              <a:t>á</a:t>
            </a:r>
            <a:r>
              <a:rPr lang="pt-BR"/>
              <a:t>lculo do Resultado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369250" y="18866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</a:t>
            </a:r>
            <a:r>
              <a:rPr lang="pt-BR" sz="600"/>
              <a:t>1</a:t>
            </a:r>
            <a:endParaRPr sz="600"/>
          </a:p>
        </p:txBody>
      </p:sp>
      <p:sp>
        <p:nvSpPr>
          <p:cNvPr id="145" name="Google Shape;145;p18"/>
          <p:cNvSpPr/>
          <p:nvPr/>
        </p:nvSpPr>
        <p:spPr>
          <a:xfrm>
            <a:off x="2369250" y="22940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2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2369250" y="35098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2369250" y="39172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n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2260200" y="2541063"/>
            <a:ext cx="647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889750" y="148575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0</a:t>
            </a:r>
            <a:endParaRPr sz="1183"/>
          </a:p>
        </p:txBody>
      </p:sp>
      <p:sp>
        <p:nvSpPr>
          <p:cNvPr id="150" name="Google Shape;150;p18"/>
          <p:cNvSpPr/>
          <p:nvPr/>
        </p:nvSpPr>
        <p:spPr>
          <a:xfrm>
            <a:off x="3889750" y="182994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1</a:t>
            </a:r>
            <a:endParaRPr sz="1183"/>
          </a:p>
        </p:txBody>
      </p:sp>
      <p:sp>
        <p:nvSpPr>
          <p:cNvPr id="151" name="Google Shape;151;p18"/>
          <p:cNvSpPr/>
          <p:nvPr/>
        </p:nvSpPr>
        <p:spPr>
          <a:xfrm>
            <a:off x="3889750" y="217413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2</a:t>
            </a:r>
            <a:endParaRPr sz="1183"/>
          </a:p>
        </p:txBody>
      </p:sp>
      <p:sp>
        <p:nvSpPr>
          <p:cNvPr id="152" name="Google Shape;152;p18"/>
          <p:cNvSpPr/>
          <p:nvPr/>
        </p:nvSpPr>
        <p:spPr>
          <a:xfrm>
            <a:off x="3889750" y="251832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3</a:t>
            </a:r>
            <a:endParaRPr sz="1183"/>
          </a:p>
        </p:txBody>
      </p:sp>
      <p:sp>
        <p:nvSpPr>
          <p:cNvPr id="153" name="Google Shape;153;p18"/>
          <p:cNvSpPr/>
          <p:nvPr/>
        </p:nvSpPr>
        <p:spPr>
          <a:xfrm>
            <a:off x="3889750" y="286252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4</a:t>
            </a:r>
            <a:endParaRPr sz="1183"/>
          </a:p>
        </p:txBody>
      </p:sp>
      <p:sp>
        <p:nvSpPr>
          <p:cNvPr id="154" name="Google Shape;154;p18"/>
          <p:cNvSpPr/>
          <p:nvPr/>
        </p:nvSpPr>
        <p:spPr>
          <a:xfrm>
            <a:off x="3889750" y="320671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5</a:t>
            </a:r>
            <a:endParaRPr sz="1183"/>
          </a:p>
        </p:txBody>
      </p:sp>
      <p:sp>
        <p:nvSpPr>
          <p:cNvPr id="155" name="Google Shape;155;p18"/>
          <p:cNvSpPr/>
          <p:nvPr/>
        </p:nvSpPr>
        <p:spPr>
          <a:xfrm>
            <a:off x="3889750" y="355090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6</a:t>
            </a:r>
            <a:endParaRPr sz="1183"/>
          </a:p>
        </p:txBody>
      </p:sp>
      <p:sp>
        <p:nvSpPr>
          <p:cNvPr id="156" name="Google Shape;156;p18"/>
          <p:cNvSpPr/>
          <p:nvPr/>
        </p:nvSpPr>
        <p:spPr>
          <a:xfrm>
            <a:off x="3889750" y="389509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7</a:t>
            </a:r>
            <a:endParaRPr sz="1183"/>
          </a:p>
        </p:txBody>
      </p:sp>
      <p:sp>
        <p:nvSpPr>
          <p:cNvPr id="157" name="Google Shape;157;p18"/>
          <p:cNvSpPr/>
          <p:nvPr/>
        </p:nvSpPr>
        <p:spPr>
          <a:xfrm>
            <a:off x="3889750" y="423929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8</a:t>
            </a:r>
            <a:endParaRPr sz="1183"/>
          </a:p>
        </p:txBody>
      </p:sp>
      <p:sp>
        <p:nvSpPr>
          <p:cNvPr id="158" name="Google Shape;158;p18"/>
          <p:cNvSpPr/>
          <p:nvPr/>
        </p:nvSpPr>
        <p:spPr>
          <a:xfrm>
            <a:off x="3889750" y="458348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9</a:t>
            </a:r>
            <a:endParaRPr sz="1183"/>
          </a:p>
        </p:txBody>
      </p:sp>
      <p:sp>
        <p:nvSpPr>
          <p:cNvPr id="159" name="Google Shape;159;p18"/>
          <p:cNvSpPr txBox="1"/>
          <p:nvPr/>
        </p:nvSpPr>
        <p:spPr>
          <a:xfrm rot="-1134011">
            <a:off x="2817482" y="1644830"/>
            <a:ext cx="911335" cy="269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w</a:t>
            </a:r>
            <a:r>
              <a:rPr lang="pt-BR" sz="700">
                <a:solidFill>
                  <a:schemeClr val="dk2"/>
                </a:solidFill>
              </a:rPr>
              <a:t>10</a:t>
            </a:r>
            <a:r>
              <a:rPr lang="pt-BR" sz="1200">
                <a:solidFill>
                  <a:schemeClr val="dk2"/>
                </a:solidFill>
              </a:rPr>
              <a:t> = 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318975" y="16029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4318975" y="19577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4318975" y="23125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318975" y="26673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4318975" y="29141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4318975" y="32689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318975" y="36237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4318975" y="39785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4318975" y="43246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4318975" y="46794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18300" y="15591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4618300" y="19001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4618300" y="22412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0.67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4618300" y="26097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618300" y="2856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0.19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618300" y="32113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0.57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618300" y="35661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4618300" y="39209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0.77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618300" y="42757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0.36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4618300" y="4630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4252450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Resultado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25" y="2233150"/>
            <a:ext cx="1365875" cy="13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480813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Input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857600" y="2700525"/>
            <a:ext cx="362700" cy="4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61200" y="2813450"/>
            <a:ext cx="3071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i</a:t>
            </a:r>
            <a:r>
              <a:rPr baseline="-25000" lang="pt-BR" sz="1800">
                <a:solidFill>
                  <a:schemeClr val="dk2"/>
                </a:solidFill>
              </a:rPr>
              <a:t>1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10</a:t>
            </a:r>
            <a:r>
              <a:rPr lang="pt-BR" sz="1800">
                <a:solidFill>
                  <a:schemeClr val="dk2"/>
                </a:solidFill>
              </a:rPr>
              <a:t>+ … + i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n0</a:t>
            </a:r>
            <a:r>
              <a:rPr lang="pt-BR" sz="1800">
                <a:solidFill>
                  <a:schemeClr val="dk2"/>
                </a:solidFill>
              </a:rPr>
              <a:t>+ 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5" name="Google Shape;185;p18"/>
          <p:cNvCxnSpPr>
            <a:stCxn id="144" idx="6"/>
            <a:endCxn id="149" idx="2"/>
          </p:cNvCxnSpPr>
          <p:nvPr/>
        </p:nvCxnSpPr>
        <p:spPr>
          <a:xfrm flipH="1" rot="10800000">
            <a:off x="2798550" y="1657775"/>
            <a:ext cx="1091100" cy="4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8"/>
          <p:cNvCxnSpPr>
            <a:stCxn id="145" idx="6"/>
            <a:endCxn id="149" idx="2"/>
          </p:cNvCxnSpPr>
          <p:nvPr/>
        </p:nvCxnSpPr>
        <p:spPr>
          <a:xfrm flipH="1" rot="10800000">
            <a:off x="2798550" y="1657775"/>
            <a:ext cx="1091100" cy="8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8"/>
          <p:cNvCxnSpPr>
            <a:stCxn id="148" idx="3"/>
            <a:endCxn id="149" idx="2"/>
          </p:cNvCxnSpPr>
          <p:nvPr/>
        </p:nvCxnSpPr>
        <p:spPr>
          <a:xfrm flipH="1" rot="10800000">
            <a:off x="2907600" y="1657863"/>
            <a:ext cx="982200" cy="13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8"/>
          <p:cNvCxnSpPr>
            <a:stCxn id="146" idx="6"/>
            <a:endCxn id="149" idx="2"/>
          </p:cNvCxnSpPr>
          <p:nvPr/>
        </p:nvCxnSpPr>
        <p:spPr>
          <a:xfrm flipH="1" rot="10800000">
            <a:off x="2798550" y="1657900"/>
            <a:ext cx="1091100" cy="20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8"/>
          <p:cNvCxnSpPr>
            <a:stCxn id="147" idx="6"/>
            <a:endCxn id="149" idx="2"/>
          </p:cNvCxnSpPr>
          <p:nvPr/>
        </p:nvCxnSpPr>
        <p:spPr>
          <a:xfrm flipH="1" rot="10800000">
            <a:off x="2798550" y="1657900"/>
            <a:ext cx="1091100" cy="24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8"/>
          <p:cNvSpPr txBox="1"/>
          <p:nvPr/>
        </p:nvSpPr>
        <p:spPr>
          <a:xfrm>
            <a:off x="7185625" y="1485750"/>
            <a:ext cx="11742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5"/>
                </a:solidFill>
              </a:rPr>
              <a:t>Bias</a:t>
            </a:r>
            <a:endParaRPr sz="12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5"/>
                </a:solidFill>
              </a:rPr>
              <a:t>(viés da rede)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191" name="Google Shape;191;p18"/>
          <p:cNvSpPr txBox="1"/>
          <p:nvPr/>
        </p:nvSpPr>
        <p:spPr>
          <a:xfrm rot="5400000">
            <a:off x="7664536" y="1660075"/>
            <a:ext cx="2328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5"/>
                </a:solidFill>
              </a:rPr>
              <a:t>{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984700" y="1798550"/>
            <a:ext cx="19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</a:t>
            </a:r>
            <a:r>
              <a:rPr baseline="-25000" lang="pt-BR" sz="1800">
                <a:solidFill>
                  <a:schemeClr val="dk2"/>
                </a:solidFill>
              </a:rPr>
              <a:t>0</a:t>
            </a:r>
            <a:r>
              <a:rPr lang="pt-BR" sz="1800">
                <a:solidFill>
                  <a:schemeClr val="dk2"/>
                </a:solidFill>
              </a:rPr>
              <a:t> = </a:t>
            </a:r>
            <a:r>
              <a:rPr lang="pt-BR" sz="1800">
                <a:solidFill>
                  <a:schemeClr val="dk2"/>
                </a:solidFill>
              </a:rPr>
              <a:t>𝜮</a:t>
            </a:r>
            <a:r>
              <a:rPr lang="pt-BR" sz="1800">
                <a:solidFill>
                  <a:schemeClr val="dk2"/>
                </a:solidFill>
              </a:rPr>
              <a:t> ( i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n0</a:t>
            </a:r>
            <a:r>
              <a:rPr lang="pt-BR" sz="1800">
                <a:solidFill>
                  <a:schemeClr val="dk2"/>
                </a:solidFill>
              </a:rPr>
              <a:t>) + b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5400000">
            <a:off x="6777600" y="2320550"/>
            <a:ext cx="362700" cy="4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Balanceamento de Pesos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2369250" y="18866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</a:t>
            </a:r>
            <a:r>
              <a:rPr lang="pt-BR" sz="600"/>
              <a:t>1</a:t>
            </a:r>
            <a:endParaRPr sz="600"/>
          </a:p>
        </p:txBody>
      </p:sp>
      <p:sp>
        <p:nvSpPr>
          <p:cNvPr id="200" name="Google Shape;200;p19"/>
          <p:cNvSpPr/>
          <p:nvPr/>
        </p:nvSpPr>
        <p:spPr>
          <a:xfrm>
            <a:off x="2369250" y="22940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2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2369250" y="35098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369250" y="39172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260200" y="2541063"/>
            <a:ext cx="647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3889750" y="148575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0</a:t>
            </a:r>
            <a:endParaRPr sz="1183"/>
          </a:p>
        </p:txBody>
      </p:sp>
      <p:sp>
        <p:nvSpPr>
          <p:cNvPr id="205" name="Google Shape;205;p19"/>
          <p:cNvSpPr/>
          <p:nvPr/>
        </p:nvSpPr>
        <p:spPr>
          <a:xfrm>
            <a:off x="3889750" y="182994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1</a:t>
            </a:r>
            <a:endParaRPr sz="1183"/>
          </a:p>
        </p:txBody>
      </p:sp>
      <p:sp>
        <p:nvSpPr>
          <p:cNvPr id="206" name="Google Shape;206;p19"/>
          <p:cNvSpPr/>
          <p:nvPr/>
        </p:nvSpPr>
        <p:spPr>
          <a:xfrm>
            <a:off x="3889750" y="217413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2</a:t>
            </a:r>
            <a:endParaRPr sz="1183"/>
          </a:p>
        </p:txBody>
      </p:sp>
      <p:sp>
        <p:nvSpPr>
          <p:cNvPr id="207" name="Google Shape;207;p19"/>
          <p:cNvSpPr/>
          <p:nvPr/>
        </p:nvSpPr>
        <p:spPr>
          <a:xfrm>
            <a:off x="3889750" y="251832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3</a:t>
            </a:r>
            <a:endParaRPr sz="1183"/>
          </a:p>
        </p:txBody>
      </p:sp>
      <p:sp>
        <p:nvSpPr>
          <p:cNvPr id="208" name="Google Shape;208;p19"/>
          <p:cNvSpPr/>
          <p:nvPr/>
        </p:nvSpPr>
        <p:spPr>
          <a:xfrm>
            <a:off x="3889750" y="286252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4</a:t>
            </a:r>
            <a:endParaRPr sz="1183"/>
          </a:p>
        </p:txBody>
      </p:sp>
      <p:sp>
        <p:nvSpPr>
          <p:cNvPr id="209" name="Google Shape;209;p19"/>
          <p:cNvSpPr/>
          <p:nvPr/>
        </p:nvSpPr>
        <p:spPr>
          <a:xfrm>
            <a:off x="3889750" y="320671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5</a:t>
            </a:r>
            <a:endParaRPr sz="1183"/>
          </a:p>
        </p:txBody>
      </p:sp>
      <p:sp>
        <p:nvSpPr>
          <p:cNvPr id="210" name="Google Shape;210;p19"/>
          <p:cNvSpPr/>
          <p:nvPr/>
        </p:nvSpPr>
        <p:spPr>
          <a:xfrm>
            <a:off x="3889750" y="355090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6</a:t>
            </a:r>
            <a:endParaRPr sz="1183"/>
          </a:p>
        </p:txBody>
      </p:sp>
      <p:sp>
        <p:nvSpPr>
          <p:cNvPr id="211" name="Google Shape;211;p19"/>
          <p:cNvSpPr/>
          <p:nvPr/>
        </p:nvSpPr>
        <p:spPr>
          <a:xfrm>
            <a:off x="3889750" y="389509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7</a:t>
            </a:r>
            <a:endParaRPr sz="1183"/>
          </a:p>
        </p:txBody>
      </p:sp>
      <p:sp>
        <p:nvSpPr>
          <p:cNvPr id="212" name="Google Shape;212;p19"/>
          <p:cNvSpPr/>
          <p:nvPr/>
        </p:nvSpPr>
        <p:spPr>
          <a:xfrm>
            <a:off x="3889750" y="423929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8</a:t>
            </a:r>
            <a:endParaRPr sz="1183"/>
          </a:p>
        </p:txBody>
      </p:sp>
      <p:sp>
        <p:nvSpPr>
          <p:cNvPr id="213" name="Google Shape;213;p19"/>
          <p:cNvSpPr/>
          <p:nvPr/>
        </p:nvSpPr>
        <p:spPr>
          <a:xfrm>
            <a:off x="3889750" y="458348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9</a:t>
            </a:r>
            <a:endParaRPr sz="1183"/>
          </a:p>
        </p:txBody>
      </p:sp>
      <p:cxnSp>
        <p:nvCxnSpPr>
          <p:cNvPr id="214" name="Google Shape;214;p19"/>
          <p:cNvCxnSpPr>
            <a:stCxn id="199" idx="6"/>
            <a:endCxn id="204" idx="2"/>
          </p:cNvCxnSpPr>
          <p:nvPr/>
        </p:nvCxnSpPr>
        <p:spPr>
          <a:xfrm flipH="1" rot="10800000">
            <a:off x="2798550" y="1657775"/>
            <a:ext cx="1091100" cy="4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19"/>
          <p:cNvCxnSpPr>
            <a:stCxn id="199" idx="6"/>
            <a:endCxn id="205" idx="2"/>
          </p:cNvCxnSpPr>
          <p:nvPr/>
        </p:nvCxnSpPr>
        <p:spPr>
          <a:xfrm flipH="1" rot="10800000">
            <a:off x="2798550" y="2001875"/>
            <a:ext cx="1091100" cy="8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19"/>
          <p:cNvCxnSpPr>
            <a:stCxn id="199" idx="6"/>
            <a:endCxn id="206" idx="2"/>
          </p:cNvCxnSpPr>
          <p:nvPr/>
        </p:nvCxnSpPr>
        <p:spPr>
          <a:xfrm>
            <a:off x="2798550" y="2090375"/>
            <a:ext cx="1091100" cy="2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9"/>
          <p:cNvCxnSpPr>
            <a:stCxn id="199" idx="6"/>
            <a:endCxn id="207" idx="2"/>
          </p:cNvCxnSpPr>
          <p:nvPr/>
        </p:nvCxnSpPr>
        <p:spPr>
          <a:xfrm>
            <a:off x="2798550" y="2090375"/>
            <a:ext cx="1091100" cy="6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9"/>
          <p:cNvCxnSpPr>
            <a:stCxn id="199" idx="6"/>
            <a:endCxn id="208" idx="2"/>
          </p:cNvCxnSpPr>
          <p:nvPr/>
        </p:nvCxnSpPr>
        <p:spPr>
          <a:xfrm>
            <a:off x="2798550" y="2090375"/>
            <a:ext cx="1091100" cy="94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9"/>
          <p:cNvCxnSpPr>
            <a:stCxn id="199" idx="6"/>
            <a:endCxn id="209" idx="2"/>
          </p:cNvCxnSpPr>
          <p:nvPr/>
        </p:nvCxnSpPr>
        <p:spPr>
          <a:xfrm>
            <a:off x="2798550" y="2090375"/>
            <a:ext cx="1091100" cy="128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9"/>
          <p:cNvCxnSpPr>
            <a:stCxn id="199" idx="6"/>
            <a:endCxn id="210" idx="2"/>
          </p:cNvCxnSpPr>
          <p:nvPr/>
        </p:nvCxnSpPr>
        <p:spPr>
          <a:xfrm>
            <a:off x="2798550" y="2090375"/>
            <a:ext cx="1091100" cy="16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9"/>
          <p:cNvCxnSpPr>
            <a:stCxn id="199" idx="6"/>
            <a:endCxn id="211" idx="2"/>
          </p:cNvCxnSpPr>
          <p:nvPr/>
        </p:nvCxnSpPr>
        <p:spPr>
          <a:xfrm>
            <a:off x="2798550" y="2090375"/>
            <a:ext cx="1091100" cy="19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19"/>
          <p:cNvCxnSpPr>
            <a:stCxn id="199" idx="6"/>
            <a:endCxn id="212" idx="2"/>
          </p:cNvCxnSpPr>
          <p:nvPr/>
        </p:nvCxnSpPr>
        <p:spPr>
          <a:xfrm>
            <a:off x="2798550" y="2090375"/>
            <a:ext cx="1091100" cy="23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9"/>
          <p:cNvCxnSpPr>
            <a:stCxn id="199" idx="6"/>
            <a:endCxn id="213" idx="2"/>
          </p:cNvCxnSpPr>
          <p:nvPr/>
        </p:nvCxnSpPr>
        <p:spPr>
          <a:xfrm>
            <a:off x="2798550" y="2090375"/>
            <a:ext cx="1091100" cy="26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19"/>
          <p:cNvSpPr txBox="1"/>
          <p:nvPr/>
        </p:nvSpPr>
        <p:spPr>
          <a:xfrm rot="-1134011">
            <a:off x="2987432" y="1526380"/>
            <a:ext cx="911335" cy="269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w</a:t>
            </a:r>
            <a:r>
              <a:rPr lang="pt-BR" sz="700">
                <a:solidFill>
                  <a:schemeClr val="dk2"/>
                </a:solidFill>
              </a:rPr>
              <a:t>11</a:t>
            </a:r>
            <a:r>
              <a:rPr lang="pt-BR" sz="1200">
                <a:solidFill>
                  <a:schemeClr val="dk2"/>
                </a:solidFill>
              </a:rPr>
              <a:t> = 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318975" y="16029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4318975" y="19577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4318975" y="23125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4318975" y="26673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4318975" y="29141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4318975" y="32689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4318975" y="36237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4318975" y="39785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4318975" y="43246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4318975" y="46794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4618300" y="15591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4618300" y="19001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4618300" y="22412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0.67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4618300" y="26097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4618300" y="2856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0.19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4618300" y="32113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0.57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4618300" y="35661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618300" y="39209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0.77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4618300" y="42757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0.36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4618300" y="4630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252450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Resultado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46" name="Google Shape;2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25" y="2233150"/>
            <a:ext cx="1365875" cy="13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480813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Input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1857600" y="2700525"/>
            <a:ext cx="362700" cy="4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5881000" y="155758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881000" y="189863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881000" y="223968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5881000" y="260823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5881000" y="28550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1</a:t>
            </a:r>
            <a:r>
              <a:rPr lang="pt-BR" sz="1200">
                <a:solidFill>
                  <a:schemeClr val="dk2"/>
                </a:solidFill>
              </a:rPr>
              <a:t>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5881000" y="32098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5881000" y="35646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5881000" y="39194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5881000" y="42742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5881000" y="46290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352850" y="1241344"/>
            <a:ext cx="15873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Dado Rotulado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860000" y="2562175"/>
            <a:ext cx="1896900" cy="20472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Loss Function ou MSE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2"/>
                </a:solidFill>
              </a:rPr>
              <a:t>𝜮</a:t>
            </a:r>
            <a:r>
              <a:rPr baseline="-25000" lang="pt-BR" sz="1800">
                <a:solidFill>
                  <a:schemeClr val="dk2"/>
                </a:solidFill>
              </a:rPr>
              <a:t> </a:t>
            </a:r>
            <a:r>
              <a:rPr lang="pt-BR" sz="1800">
                <a:solidFill>
                  <a:schemeClr val="dk2"/>
                </a:solidFill>
              </a:rPr>
              <a:t>(err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)</a:t>
            </a:r>
            <a:r>
              <a:rPr baseline="30000" lang="pt-BR" sz="1800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6618950" y="1559100"/>
            <a:ext cx="235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i</a:t>
            </a:r>
            <a:r>
              <a:rPr baseline="-25000" lang="pt-BR" sz="1800">
                <a:solidFill>
                  <a:schemeClr val="dk2"/>
                </a:solidFill>
              </a:rPr>
              <a:t>1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10</a:t>
            </a:r>
            <a:r>
              <a:rPr lang="pt-BR" sz="1800">
                <a:solidFill>
                  <a:schemeClr val="dk2"/>
                </a:solidFill>
              </a:rPr>
              <a:t>+ … + i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n0</a:t>
            </a:r>
            <a:r>
              <a:rPr lang="pt-BR" sz="1800">
                <a:solidFill>
                  <a:schemeClr val="dk2"/>
                </a:solidFill>
              </a:rPr>
              <a:t>+ 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Adicionais</a:t>
            </a:r>
            <a:endParaRPr/>
          </a:p>
        </p:txBody>
      </p:sp>
      <p:sp>
        <p:nvSpPr>
          <p:cNvPr id="267" name="Google Shape;26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Batch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Epoch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Learning Rate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FeedForward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BackPropagation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268" name="Google Shape;2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152" y="219425"/>
            <a:ext cx="1855650" cy="172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9510" y="2078175"/>
            <a:ext cx="4732025" cy="23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FIM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